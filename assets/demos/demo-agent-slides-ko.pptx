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0" i="0">
                <a:solidFill>
                  <a:srgbClr val="141413"/>
                </a:solidFill>
                <a:latin typeface="Source Han Serif K"/>
              </a:rPr>
              <a:t>{{문서 제목}}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3931920"/>
            <a:ext cx="9144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420624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504E49"/>
                </a:solidFill>
                <a:latin typeface="Source Han Serif K"/>
              </a:rPr>
              <a:t>{{한 줄 설명}}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B6A64"/>
                </a:solidFill>
                <a:latin typeface="Source Han Serif K"/>
              </a:rPr>
              <a:t>{{작성자}} · 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Source Han Serif K"/>
              </a:rPr>
              <a:t>목차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1645920"/>
            <a:ext cx="10058400" cy="0"/>
          </a:xfrm>
          <a:prstGeom prst="line">
            <a:avLst/>
          </a:prstGeom>
          <a:ln w="1270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" y="21945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B365D"/>
                </a:solidFill>
                <a:latin typeface="Source Han Serif 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1945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Source Han Serif K"/>
              </a:rPr>
              <a:t>{{1장}}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B365D"/>
                </a:solidFill>
                <a:latin typeface="Source Han Serif K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0175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Source Han Serif K"/>
              </a:rPr>
              <a:t>{{2장}}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B365D"/>
                </a:solidFill>
                <a:latin typeface="Source Han Serif K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8404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Source Han Serif K"/>
              </a:rPr>
              <a:t>{{3장}}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B365D"/>
                </a:solidFill>
                <a:latin typeface="Source Han Serif K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6634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Source Han Serif K"/>
              </a:rP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ource Han Serif K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Source Han Serif K"/>
              </a:rPr>
              <a:t>{{장 제목}}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K"/>
              </a:rPr>
              <a:t>{{장 · 이 페이지}}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Source Han Serif K"/>
              </a:rPr>
              <a:t>{{한 문장으로 정리한 핵심 주장}}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D3D3A"/>
                </a:solidFill>
                <a:latin typeface="Source Han Serif K"/>
              </a:rPr>
              <a:t>{{18pt 본문 한 단락. 3줄 이내로 유지. 한 슬라이드, 하나의 핵심 메시지. 독자의 주의력이 가장 희소한 자원.}}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K"/>
              </a:rPr>
              <a:t> - 05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0">
                <a:solidFill>
                  <a:srgbClr val="141413"/>
                </a:solidFill>
                <a:latin typeface="Source Han Serif K"/>
              </a:rPr>
              <a:t>핵심 결과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828800"/>
            <a:ext cx="914400" cy="0"/>
          </a:xfrm>
          <a:prstGeom prst="line">
            <a:avLst/>
          </a:prstGeom>
          <a:ln w="1270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2356" y="2743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0" i="0">
                <a:solidFill>
                  <a:srgbClr val="1B365D"/>
                </a:solidFill>
                <a:latin typeface="Source Han Serif K"/>
              </a:rPr>
              <a:t>+42%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" y="4389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Source Han Serif K"/>
              </a:rPr>
              <a:t>전환율 상승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6996" y="2743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0" i="0">
                <a:solidFill>
                  <a:srgbClr val="1B365D"/>
                </a:solidFill>
                <a:latin typeface="Source Han Serif K"/>
              </a:rPr>
              <a:t>3.8M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6996" y="4389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Source Han Serif K"/>
              </a:rPr>
              <a:t>월간 활성 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1636" y="2743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0" i="0">
                <a:solidFill>
                  <a:srgbClr val="1B365D"/>
                </a:solidFill>
                <a:latin typeface="Source Han Serif K"/>
              </a:rPr>
              <a:t>99.9%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1636" y="4389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Source Han Serif K"/>
              </a:rPr>
              <a:t>가용성 SLA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6276" y="2743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0" i="0">
                <a:solidFill>
                  <a:srgbClr val="1B365D"/>
                </a:solidFill>
                <a:latin typeface="Source Han Serif K"/>
              </a:rPr>
              <a:t>5,000+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6276" y="4389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Source Han Serif K"/>
              </a:rPr>
              <a:t>최대 QPS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45752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0" i="0">
                <a:solidFill>
                  <a:srgbClr val="141413"/>
                </a:solidFill>
                <a:latin typeface="Source Han Serif K"/>
              </a:rPr>
              <a:t>“Good design is as little design as possible.”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45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Source Han Serif K"/>
              </a:rPr>
              <a:t> - Dieter 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K"/>
              </a:rPr>
              <a:t>{{장 · 비교}}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9048" y="914400"/>
            <a:ext cx="0" cy="5303520"/>
          </a:xfrm>
          <a:prstGeom prst="line">
            <a:avLst/>
          </a:prstGeom>
          <a:ln w="12700">
            <a:solidFill>
              <a:srgbClr val="E8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" y="10972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04E49"/>
                </a:solidFill>
                <a:latin typeface="Source Han Serif K"/>
              </a:rPr>
              <a:t>{{Before}}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Source Han Serif K"/>
              </a:rPr>
              <a:t>{{After}}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2011680"/>
            <a:ext cx="105156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237744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6A64"/>
                </a:solidFill>
                <a:latin typeface="Source Han Serif K"/>
              </a:rPr>
              <a:t>{{포인트 A}}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6A64"/>
                </a:solidFill>
                <a:latin typeface="Source Han Serif K"/>
              </a:rPr>
              <a:t>{{포인트 B}}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6A64"/>
                </a:solidFill>
                <a:latin typeface="Source Han Serif K"/>
              </a:rPr>
              <a:t>{{포인트 C}}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D3D3A"/>
                </a:solidFill>
                <a:latin typeface="Source Han Serif K"/>
              </a:rPr>
              <a:t>{{개선 A}}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D3D3A"/>
                </a:solidFill>
                <a:latin typeface="Source Han Serif K"/>
              </a:rPr>
              <a:t>{{개선 B}}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D3D3A"/>
                </a:solidFill>
                <a:latin typeface="Source Han Serif K"/>
              </a:rPr>
              <a:t>{{개선 C}}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K"/>
              </a:rPr>
              <a:t> - 08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K"/>
              </a:rPr>
              <a:t>{{장 · 프로세스}}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141413"/>
                </a:solidFill>
                <a:latin typeface="Source Han Serif K"/>
              </a:rPr>
              <a:t>{{프로세스를 단정형으로 정리한 헤드라인}}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965960"/>
            <a:ext cx="100584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286000"/>
            <a:ext cx="350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1B365D"/>
                </a:solidFill>
                <a:latin typeface="Source Han Serif 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332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41413"/>
                </a:solidFill>
                <a:latin typeface="Source Han Serif K"/>
              </a:rPr>
              <a:t>{{1단계}}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3322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04E49"/>
                </a:solidFill>
                <a:latin typeface="Source Han Serif K"/>
              </a:rPr>
              <a:t>{{1단계 짧은 설명. 2줄 이내.}}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2286000"/>
            <a:ext cx="350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1B365D"/>
                </a:solidFill>
                <a:latin typeface="Source Han Serif 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00" y="3154680"/>
            <a:ext cx="332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41413"/>
                </a:solidFill>
                <a:latin typeface="Source Han Serif K"/>
              </a:rPr>
              <a:t>{{2단계}}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00" y="3794760"/>
            <a:ext cx="3322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04E49"/>
                </a:solidFill>
                <a:latin typeface="Source Han Serif K"/>
              </a:rPr>
              <a:t>{{2단계 짧은 설명. 2줄 이내.}}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800" y="2286000"/>
            <a:ext cx="350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1B365D"/>
                </a:solidFill>
                <a:latin typeface="Source Han Serif 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0" y="3154680"/>
            <a:ext cx="332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41413"/>
                </a:solidFill>
                <a:latin typeface="Source Han Serif K"/>
              </a:rPr>
              <a:t>{{3단계}}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800" y="3794760"/>
            <a:ext cx="3322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04E49"/>
                </a:solidFill>
                <a:latin typeface="Source Han Serif K"/>
              </a:rPr>
              <a:t>{{3단계 짧은 설명. 2줄 이내.}}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K"/>
              </a:rPr>
              <a:t> - 09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 i="0">
                <a:solidFill>
                  <a:srgbClr val="141413"/>
                </a:solidFill>
                <a:latin typeface="Source Han Serif K"/>
              </a:rPr>
              <a:t>감사합니다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4114800"/>
            <a:ext cx="9144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504E49"/>
                </a:solidFill>
                <a:latin typeface="Source Han Serif K"/>
              </a:rPr>
              <a:t>{{이메일}} · {{웹사이트}}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